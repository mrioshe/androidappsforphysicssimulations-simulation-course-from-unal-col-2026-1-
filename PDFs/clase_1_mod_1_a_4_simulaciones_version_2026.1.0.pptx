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56" r:id="rId2"/>
    <p:sldId id="318" r:id="rId3"/>
    <p:sldId id="257" r:id="rId4"/>
    <p:sldId id="345" r:id="rId5"/>
    <p:sldId id="270" r:id="rId6"/>
    <p:sldId id="309" r:id="rId7"/>
    <p:sldId id="310" r:id="rId8"/>
    <p:sldId id="314" r:id="rId9"/>
    <p:sldId id="317" r:id="rId10"/>
    <p:sldId id="311" r:id="rId11"/>
    <p:sldId id="271" r:id="rId12"/>
    <p:sldId id="272" r:id="rId13"/>
    <p:sldId id="273" r:id="rId14"/>
    <p:sldId id="315" r:id="rId15"/>
    <p:sldId id="316" r:id="rId16"/>
    <p:sldId id="324" r:id="rId17"/>
    <p:sldId id="325" r:id="rId18"/>
    <p:sldId id="326" r:id="rId19"/>
    <p:sldId id="327" r:id="rId20"/>
    <p:sldId id="346" r:id="rId21"/>
    <p:sldId id="347" r:id="rId22"/>
    <p:sldId id="328" r:id="rId23"/>
    <p:sldId id="329" r:id="rId24"/>
    <p:sldId id="330" r:id="rId25"/>
    <p:sldId id="331" r:id="rId26"/>
    <p:sldId id="332" r:id="rId27"/>
    <p:sldId id="312" r:id="rId28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9" autoAdjust="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18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446EEE-9F74-414C-8CF3-76F72C6C9CBB}" type="datetime1">
              <a:rPr lang="es-ES" smtClean="0"/>
              <a:t>03/01/2026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8FC2AD-8B93-45A4-8827-85E82B2F4F55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958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314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5677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619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6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9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ACC39B-F8AD-4C56-AD8F-A56798AE1A49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255" name="línea" descr="Gráfico de líne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orma lib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7" name="Forma lib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8" name="Forma lib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59" name="Forma lib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0" name="Forma lib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1" name="Forma lib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2" name="Forma lib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3" name="Forma lib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4" name="Forma lib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5" name="Forma lib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6" name="Forma lib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7" name="Forma lib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8" name="Forma lib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69" name="Forma lib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0" name="Forma lib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1" name="Forma lib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2" name="Forma lib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3" name="Forma lib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4" name="Forma lib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5" name="Forma lib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6" name="Forma lib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7" name="Forma lib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8" name="Forma lib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9" name="Forma lib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0" name="Forma lib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1" name="Forma lib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2" name="Forma lib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3" name="Forma lib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4" name="Forma lib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5" name="Forma lib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6" name="Forma lib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7" name="Forma lib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8" name="Forma lib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89" name="Forma lib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0" name="Forma lib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1" name="Forma lib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2" name="Forma lib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3" name="Forma lib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4" name="Forma lib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5" name="Forma lib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6" name="Forma lib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7" name="Forma lib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8" name="Forma lib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9" name="Forma lib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0" name="Forma lib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1" name="Forma lib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2" name="Forma lib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3" name="Forma lib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4" name="Forma lib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5" name="Forma lib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6" name="Forma lib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7" name="Forma lib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8" name="Forma lib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9" name="Forma lib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0" name="Forma lib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1" name="Forma lib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2" name="Forma lib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3" name="Forma lib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4" name="Forma lib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5" name="Forma lib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6" name="Forma lib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7" name="Forma lib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8" name="Forma lib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9" name="Forma lib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0" name="Forma lib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1" name="Forma lib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2" name="Forma lib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3" name="Forma lib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4" name="Forma lib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5" name="Forma lib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6" name="Forma lib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7" name="Forma lib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8" name="Forma lib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9" name="Forma lib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0" name="Forma lib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1" name="Forma lib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2" name="Forma lib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3" name="Forma lib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4" name="Forma lib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5" name="Forma lib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6" name="Forma lib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7" name="Forma lib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8" name="Forma lib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39" name="Forma lib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0" name="Forma lib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1" name="Forma lib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2" name="Forma lib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3" name="Forma lib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4" name="Forma lib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5" name="Forma lib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6" name="Forma lib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7" name="Forma lib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8" name="Forma lib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49" name="Forma lib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0" name="Forma lib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1" name="Forma lib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2" name="Forma lib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3" name="Forma lib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4" name="Forma lib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5" name="Forma lib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6" name="Forma lib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7" name="Forma lib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8" name="Forma lib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59" name="Forma lib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0" name="Forma lib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1" name="Forma lib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2" name="Forma lib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3" name="Forma lib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4" name="Forma lib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5" name="Forma lib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6" name="Forma lib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7" name="Forma lib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8" name="Forma lib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9" name="Forma lib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0" name="Forma lib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1" name="Forma lib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2" name="Forma lib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3" name="Forma lib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4" name="Forma lib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5" name="Forma lib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6" name="Forma lib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7" name="Forma lib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78" name="Forma lib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A5F5A5-C1AF-4E1F-BBE9-77A0324E6A16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8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BAF46A-8BB1-4F24-A11E-0306615E93F5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0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b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29AD9-EA14-4AE8-BB2F-1A8BF56A3E5B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  <p:sp>
        <p:nvSpPr>
          <p:cNvPr id="85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246812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56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8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9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0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1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96EFD6-A265-4329-83FB-237234CCC851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EEC8E5-6135-4EEA-A5FA-4E382F0E51FD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grpSp>
        <p:nvGrpSpPr>
          <p:cNvPr id="615" name="marco" descr="Gráfico de cuadro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AA01AB-145F-4AE5-A1D5-362BC05CA7CC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quiera agregar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614" name="marco" descr="Gráfico de cuadro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b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orma lib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b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b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orma lib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b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b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orma lib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b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b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b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b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b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b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b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b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b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b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b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b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b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b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b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b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b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b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b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b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b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b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b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b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b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b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b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b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b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b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b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b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b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b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b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b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b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b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b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b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b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b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b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b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b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b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b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b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b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b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b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b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b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b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b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b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b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b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b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b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b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b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b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b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b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b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b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b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b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b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b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b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b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orma lib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b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b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b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b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b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b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b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b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b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b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b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b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b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b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b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b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b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b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b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b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b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b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b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b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b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b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b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b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b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b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b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b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b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b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b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b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b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b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b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b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b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b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b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b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b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b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b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b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b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b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b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b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b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b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b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b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b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b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b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b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b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b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b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b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b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b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b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b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b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b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b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b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s-ES" noProof="0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D16348-E405-42B1-89B5-964AA77FE073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orma libre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2E2A2-B648-4842-9ED5-8E4D1828D625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7" name="línea" descr="Gráfico de líneas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orma lib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9" name="Forma lib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0" name="Forma lib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1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2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3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4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5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4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5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6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7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8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9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0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1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2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3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4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5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6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7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8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39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0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1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2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3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4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5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6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7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8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49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0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1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2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3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4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5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6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7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8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59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0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1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2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3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4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5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6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7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8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69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0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1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2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3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4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5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6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7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8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79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0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81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6AB9F2-CD8F-42EB-A63E-2B03D1B74C56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dirty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EA5BF5C-F4C1-4C94-BD5F-F847F8EB8117}" type="datetime1">
              <a:rPr lang="es-ES" noProof="0" smtClean="0"/>
              <a:t>03/01/2026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chnewsworld.com/story/86758.html?__hstc=147279080.9c49e44b73bd3bee6fa385653ecd7c96.1594857600163.1594857600164.1594857600165.1&amp;__hssc=147279080.1.1594857600166&amp;__hsfp=1788413029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hyperlink" Target="http://www.electromagneticos.es/news.php?newsid=7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sp.depositphotos.com/stock-photos/hombre-pensando-caricatura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latam.kaspersky.com/blog/por-que-necesitamos-una-red-5g/5538/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96770" y="2569468"/>
            <a:ext cx="9144000" cy="1719064"/>
          </a:xfrm>
        </p:spPr>
        <p:txBody>
          <a:bodyPr rtlCol="0"/>
          <a:lstStyle/>
          <a:p>
            <a:pPr rtl="0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</a:t>
            </a:r>
            <a:b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sz="28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Instrumetación</a:t>
            </a:r>
            <a:r>
              <a:rPr lang="es-ES" sz="28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Virtual + </a:t>
            </a:r>
            <a:r>
              <a:rPr lang="es-ES" sz="28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ES" sz="28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b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Por: Diego Luis Aristizábal Ramírez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rtl="0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Departamento de Física-Facultad de Ciencias</a:t>
            </a:r>
          </a:p>
          <a:p>
            <a:pPr rtl="0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rtl="0"/>
            <a:r>
              <a:rPr lang="es-ES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1D4283-6EA6-4C3E-9232-6B688DB62CE6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935D2A-E001-4594-905D-925BC3510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935AC93-C3A0-4A2E-82C7-A23A72827F17}"/>
              </a:ext>
            </a:extLst>
          </p:cNvPr>
          <p:cNvSpPr txBox="1"/>
          <p:nvPr/>
        </p:nvSpPr>
        <p:spPr>
          <a:xfrm>
            <a:off x="1629916" y="1545873"/>
            <a:ext cx="8568952" cy="50552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1.  INTRODUCCIÓN</a:t>
            </a:r>
            <a:endParaRPr lang="es-CO" sz="1200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2.  MI PRIMERA APP CON ANDROID STUDIO</a:t>
            </a:r>
            <a:endParaRPr lang="es-CO" sz="1200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3.  ARITMÉTICA COMPUTACIONAL</a:t>
            </a:r>
            <a:endParaRPr lang="es-CO" sz="1200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4.  DIBUJANDO CON ANDROID</a:t>
            </a:r>
            <a:endParaRPr lang="es-CO" sz="1200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5.  OOP –ENCAPSULAMIENTO Y POLIMORFISMO-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6.  OOP –HERENCIA E INTERFACE-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7.  ESTRUCTURA DE UNA APP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8.  LA GUI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9.  GENERANDO UNA LIBRERÍA EN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10. SIMULACIONES CON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11. IV CON LOS SENSORES DEL MÓVIL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12. FLUJOS DE DATOS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13. IV + BLUETOOTH +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14. IV + BLUETOOTH + ESP32 +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15. IV + </a:t>
            </a:r>
            <a:r>
              <a:rPr lang="es-E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16. IV + </a:t>
            </a:r>
            <a:r>
              <a:rPr lang="es-E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s-E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ESP32 + ANDROID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MÓDULO # 17. IV + </a:t>
            </a:r>
            <a:r>
              <a:rPr lang="es-ES" sz="12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s-ES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SMARTWATCHES + WEAR OS</a:t>
            </a:r>
            <a:endParaRPr lang="es-CO" sz="12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MÓDILO # 18. SQLite</a:t>
            </a:r>
            <a:endParaRPr lang="es-CO" sz="12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6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Evaluación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314448-9659-4DDF-B8CE-F60BDE1C198B}"/>
              </a:ext>
            </a:extLst>
          </p:cNvPr>
          <p:cNvSpPr txBox="1"/>
          <p:nvPr/>
        </p:nvSpPr>
        <p:spPr>
          <a:xfrm>
            <a:off x="1629916" y="1916832"/>
            <a:ext cx="9684566" cy="421269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Actividades en clase</a:t>
            </a:r>
            <a:r>
              <a:rPr lang="es-MX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Deben subir al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classroom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los .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apk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de cada clase (20%)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 apps de tarea</a:t>
            </a:r>
            <a:r>
              <a:rPr lang="es-MX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Deben subir al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classroom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el código fuente empaquetado en .zip y los .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apk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por separado (20%)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Los exámenes:</a:t>
            </a:r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Se suben al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classroom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(20%)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Los proyectos: 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Deben subir al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classroom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el código fuente empaquetado en .zip y el .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apk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por separado</a:t>
            </a:r>
            <a:endParaRPr lang="es-MX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Simulación (10%)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 + ESP32 + Bluetooth (10%)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 + ESP32 + </a:t>
            </a:r>
            <a:r>
              <a:rPr lang="es-MX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(20%) 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B71C0C-4DD5-E67E-4B90-4A835A27C699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12A4E9-C007-2FED-C1AE-550E0229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Reunión </a:t>
            </a:r>
            <a:r>
              <a:rPr lang="es-MX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0</a:t>
            </a:r>
            <a:endParaRPr lang="es-CO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CA9267-A5C0-4CC7-8961-8DA3B354BC61}"/>
              </a:ext>
            </a:extLst>
          </p:cNvPr>
          <p:cNvSpPr txBox="1"/>
          <p:nvPr/>
        </p:nvSpPr>
        <p:spPr>
          <a:xfrm>
            <a:off x="1522414" y="1942439"/>
            <a:ext cx="8661059" cy="265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Los </a:t>
            </a:r>
            <a:r>
              <a:rPr lang="es-ES" sz="1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objetivos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 ésta reunión son: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Instalar el IDE </a:t>
            </a:r>
            <a:r>
              <a:rPr lang="es-E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 Studio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Desarrollar una primera app con este IDE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Repasar sobre la aritmética computacional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2A37C0-FC19-D6DB-F9AE-64E9E97E80FB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9839EE-444C-80F0-6E6A-482471343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27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Reunión # 1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CA9267-A5C0-4CC7-8961-8DA3B354BC61}"/>
              </a:ext>
            </a:extLst>
          </p:cNvPr>
          <p:cNvSpPr txBox="1"/>
          <p:nvPr/>
        </p:nvSpPr>
        <p:spPr>
          <a:xfrm>
            <a:off x="1522414" y="1655037"/>
            <a:ext cx="8661059" cy="4860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Los </a:t>
            </a:r>
            <a:r>
              <a:rPr lang="es-ES" sz="18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objetivos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 esta son: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Introducir sobre las comunicaciones inalámbricas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b="1" dirty="0">
              <a:solidFill>
                <a:srgbClr val="FFFF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Introducir sobre el </a:t>
            </a:r>
            <a:r>
              <a:rPr lang="es-E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IoT</a:t>
            </a:r>
            <a:endParaRPr lang="es-ES" sz="18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b="1" dirty="0">
              <a:solidFill>
                <a:srgbClr val="FFFF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 ESP32</a:t>
            </a:r>
            <a:endParaRPr lang="es-ES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Comprender qué es una aplicación en ANDROID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Una primera noción del concepto de CLASE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Dibujar en ANDROID con las </a:t>
            </a:r>
            <a:r>
              <a:rPr lang="es-ES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Figuras Primitivas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Hacer los primeros </a:t>
            </a:r>
            <a:r>
              <a:rPr lang="es-ES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GAUGES</a:t>
            </a:r>
            <a:endParaRPr lang="es-CO" sz="2400" b="1" dirty="0">
              <a:solidFill>
                <a:srgbClr val="FFFF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D694EB-46DE-CE05-2475-5C51BDB2A56E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C46ECB-B74C-7917-81BB-0E39C54D5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396534" cy="1020762"/>
          </a:xfrm>
        </p:spPr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Comunicaciones móviles e inalámbricas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937F7C-3C13-4F57-B7CF-E0B811FB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772" y="2173649"/>
            <a:ext cx="1784640" cy="259228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6404E7B-6414-43B3-A2A9-1B5D020BEB3B}"/>
              </a:ext>
            </a:extLst>
          </p:cNvPr>
          <p:cNvSpPr txBox="1"/>
          <p:nvPr/>
        </p:nvSpPr>
        <p:spPr>
          <a:xfrm>
            <a:off x="8760492" y="3223111"/>
            <a:ext cx="3001143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7200" dirty="0">
                <a:solidFill>
                  <a:srgbClr val="FFFF00"/>
                </a:solidFill>
              </a:rPr>
              <a:t>¿           ?</a:t>
            </a:r>
            <a:endParaRPr lang="es-CO" sz="7200" dirty="0">
              <a:solidFill>
                <a:srgbClr val="FFFF0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32C4D52-6061-466F-A72E-B8F6F3E6C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2155840"/>
            <a:ext cx="6696744" cy="247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CD8C799-8D2E-49F5-803F-875B7D01AC1A}"/>
              </a:ext>
            </a:extLst>
          </p:cNvPr>
          <p:cNvSpPr txBox="1"/>
          <p:nvPr/>
        </p:nvSpPr>
        <p:spPr>
          <a:xfrm>
            <a:off x="1667009" y="1885617"/>
            <a:ext cx="43553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>
                <a:solidFill>
                  <a:schemeClr val="tx1">
                    <a:lumMod val="50000"/>
                  </a:schemeClr>
                </a:solidFill>
                <a:hlinkClick r:id="rId4"/>
              </a:rPr>
              <a:t>Imagen tomada de este link</a:t>
            </a:r>
            <a:endParaRPr lang="es-CO" sz="1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D39D99E-C044-4E93-95FA-A29822E516E8}"/>
              </a:ext>
            </a:extLst>
          </p:cNvPr>
          <p:cNvSpPr txBox="1"/>
          <p:nvPr/>
        </p:nvSpPr>
        <p:spPr>
          <a:xfrm>
            <a:off x="7091085" y="4663732"/>
            <a:ext cx="1451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b="0" i="0" dirty="0">
                <a:effectLst/>
                <a:latin typeface="Arial" panose="020B0604020202020204" pitchFamily="34" charset="0"/>
              </a:rPr>
              <a:t> </a:t>
            </a:r>
            <a:r>
              <a:rPr lang="es-MX" sz="1000" b="1" i="0" dirty="0">
                <a:effectLst/>
                <a:latin typeface="Arial" panose="020B0604020202020204" pitchFamily="34" charset="0"/>
              </a:rPr>
              <a:t>3 GHz - 300 GHz</a:t>
            </a:r>
            <a:endParaRPr lang="es-CO" sz="1000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E892D08-E68E-4DAA-9FFA-9D06EF758E3B}"/>
              </a:ext>
            </a:extLst>
          </p:cNvPr>
          <p:cNvCxnSpPr>
            <a:cxnSpLocks/>
          </p:cNvCxnSpPr>
          <p:nvPr/>
        </p:nvCxnSpPr>
        <p:spPr>
          <a:xfrm>
            <a:off x="1773932" y="5414009"/>
            <a:ext cx="6624736" cy="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F1E2AAA-EAA8-48B5-8BAF-3EF0791434A9}"/>
              </a:ext>
            </a:extLst>
          </p:cNvPr>
          <p:cNvSpPr txBox="1"/>
          <p:nvPr/>
        </p:nvSpPr>
        <p:spPr>
          <a:xfrm>
            <a:off x="8417602" y="5257481"/>
            <a:ext cx="64807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1400" b="1" dirty="0">
                <a:solidFill>
                  <a:srgbClr val="00B0F0"/>
                </a:solidFill>
              </a:rPr>
              <a:t>f (Hz)</a:t>
            </a:r>
            <a:endParaRPr lang="es-CO" sz="1400" b="1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3441B52-F1D8-4333-B055-DC411017480B}"/>
              </a:ext>
            </a:extLst>
          </p:cNvPr>
          <p:cNvSpPr txBox="1"/>
          <p:nvPr/>
        </p:nvSpPr>
        <p:spPr>
          <a:xfrm>
            <a:off x="6996468" y="4874528"/>
            <a:ext cx="17414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s-CO" sz="1000" b="1" dirty="0">
                <a:solidFill>
                  <a:srgbClr val="FFFF00"/>
                </a:solidFill>
                <a:latin typeface="Arial" panose="020B0604020202020204" pitchFamily="34" charset="0"/>
              </a:rPr>
              <a:t>OFDM-MIMO MASIVO</a:t>
            </a:r>
            <a:r>
              <a:rPr lang="es-CO" sz="1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)</a:t>
            </a:r>
            <a:endParaRPr lang="es-CO" sz="1000" dirty="0">
              <a:solidFill>
                <a:srgbClr val="FFFF00"/>
              </a:solidFill>
            </a:endParaRPr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46A1DE72-21DA-4862-BBCD-5B76F0E128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3932" y="5618406"/>
            <a:ext cx="4629150" cy="834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C9DA8F01-CD0E-403F-BA29-9DA20EA8162C}"/>
                  </a:ext>
                </a:extLst>
              </p:cNvPr>
              <p:cNvSpPr txBox="1"/>
              <p:nvPr/>
            </p:nvSpPr>
            <p:spPr>
              <a:xfrm>
                <a:off x="7174532" y="5888448"/>
                <a:ext cx="1053868" cy="461665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s-CO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O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s-CO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C9DA8F01-CD0E-403F-BA29-9DA20EA81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32" y="5888448"/>
                <a:ext cx="10538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CuadroTexto 34">
            <a:extLst>
              <a:ext uri="{FF2B5EF4-FFF2-40B4-BE49-F238E27FC236}">
                <a16:creationId xmlns:a16="http://schemas.microsoft.com/office/drawing/2014/main" id="{37A6CD7B-03DB-4BAA-B763-A3E2AC99F40E}"/>
              </a:ext>
            </a:extLst>
          </p:cNvPr>
          <p:cNvSpPr txBox="1"/>
          <p:nvPr/>
        </p:nvSpPr>
        <p:spPr>
          <a:xfrm>
            <a:off x="3142084" y="4739516"/>
            <a:ext cx="1190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000" b="0" i="0" dirty="0">
                <a:effectLst/>
                <a:latin typeface="Arial" panose="020B0604020202020204" pitchFamily="34" charset="0"/>
              </a:rPr>
              <a:t>900 - 1 800 MHz</a:t>
            </a:r>
          </a:p>
          <a:p>
            <a:pPr algn="ctr"/>
            <a:r>
              <a:rPr lang="es-MX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(TDMA)</a:t>
            </a:r>
            <a:endParaRPr lang="es-MX" sz="1000" b="0" i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9F34993-82BC-450F-AC7D-476C11BB5852}"/>
              </a:ext>
            </a:extLst>
          </p:cNvPr>
          <p:cNvSpPr txBox="1"/>
          <p:nvPr/>
        </p:nvSpPr>
        <p:spPr>
          <a:xfrm>
            <a:off x="4400025" y="4720256"/>
            <a:ext cx="1190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Arial" panose="020B0604020202020204" pitchFamily="34" charset="0"/>
              </a:rPr>
              <a:t>8</a:t>
            </a:r>
            <a:r>
              <a:rPr lang="es-MX" sz="1000" b="0" i="0" dirty="0">
                <a:effectLst/>
                <a:latin typeface="Arial" panose="020B0604020202020204" pitchFamily="34" charset="0"/>
              </a:rPr>
              <a:t> - </a:t>
            </a:r>
            <a:r>
              <a:rPr lang="es-MX" sz="1000" dirty="0">
                <a:latin typeface="Arial" panose="020B0604020202020204" pitchFamily="34" charset="0"/>
              </a:rPr>
              <a:t>2.5 G</a:t>
            </a:r>
            <a:r>
              <a:rPr lang="es-MX" sz="1000" b="0" i="0" dirty="0">
                <a:effectLst/>
                <a:latin typeface="Arial" panose="020B0604020202020204" pitchFamily="34" charset="0"/>
              </a:rPr>
              <a:t>Hz</a:t>
            </a:r>
          </a:p>
          <a:p>
            <a:pPr algn="ctr"/>
            <a:r>
              <a:rPr lang="es-MX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s-MX" sz="1000" b="1" dirty="0">
                <a:solidFill>
                  <a:srgbClr val="FFFF00"/>
                </a:solidFill>
                <a:latin typeface="Arial" panose="020B0604020202020204" pitchFamily="34" charset="0"/>
              </a:rPr>
              <a:t>CDMA</a:t>
            </a:r>
            <a:r>
              <a:rPr lang="es-MX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)</a:t>
            </a:r>
            <a:endParaRPr lang="es-MX" sz="1000" b="0" i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7E6139-AA09-43F1-9D7B-686321ACE0EE}"/>
              </a:ext>
            </a:extLst>
          </p:cNvPr>
          <p:cNvSpPr txBox="1"/>
          <p:nvPr/>
        </p:nvSpPr>
        <p:spPr>
          <a:xfrm>
            <a:off x="5657966" y="4693929"/>
            <a:ext cx="143311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b="0" i="0" dirty="0">
                <a:effectLst/>
                <a:latin typeface="Arial" panose="020B0604020202020204" pitchFamily="34" charset="0"/>
              </a:rPr>
              <a:t>800, </a:t>
            </a:r>
            <a:r>
              <a:rPr lang="es-MX" sz="1000" dirty="0">
                <a:latin typeface="Arial" panose="020B0604020202020204" pitchFamily="34" charset="0"/>
              </a:rPr>
              <a:t>1 5</a:t>
            </a:r>
            <a:r>
              <a:rPr lang="es-MX" sz="1000" b="0" i="0" dirty="0">
                <a:effectLst/>
                <a:latin typeface="Arial" panose="020B0604020202020204" pitchFamily="34" charset="0"/>
              </a:rPr>
              <a:t>00, 1800 MHz</a:t>
            </a:r>
          </a:p>
          <a:p>
            <a:pPr algn="ctr"/>
            <a:r>
              <a:rPr lang="es-MX" sz="1000" b="0" i="0" dirty="0">
                <a:effectLst/>
                <a:latin typeface="Arial" panose="020B0604020202020204" pitchFamily="34" charset="0"/>
              </a:rPr>
              <a:t> 2.6  </a:t>
            </a:r>
            <a:r>
              <a:rPr lang="es-MX" sz="1000" dirty="0">
                <a:latin typeface="Arial" panose="020B0604020202020204" pitchFamily="34" charset="0"/>
              </a:rPr>
              <a:t>G</a:t>
            </a:r>
            <a:r>
              <a:rPr lang="es-MX" sz="1000" b="0" i="0" dirty="0">
                <a:effectLst/>
                <a:latin typeface="Arial" panose="020B0604020202020204" pitchFamily="34" charset="0"/>
              </a:rPr>
              <a:t>Hz</a:t>
            </a:r>
          </a:p>
          <a:p>
            <a:pPr algn="ctr"/>
            <a:r>
              <a:rPr lang="es-MX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(OFDM-MIMO)</a:t>
            </a:r>
            <a:endParaRPr lang="es-MX" sz="1000" b="0" i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C1E7D7B-3026-46DC-8622-1B18DD25B142}"/>
              </a:ext>
            </a:extLst>
          </p:cNvPr>
          <p:cNvSpPr txBox="1"/>
          <p:nvPr/>
        </p:nvSpPr>
        <p:spPr>
          <a:xfrm>
            <a:off x="1845940" y="4775364"/>
            <a:ext cx="1122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b="0" i="0" dirty="0">
                <a:effectLst/>
                <a:latin typeface="Arial" panose="020B0604020202020204" pitchFamily="34" charset="0"/>
              </a:rPr>
              <a:t>800 MHz</a:t>
            </a:r>
          </a:p>
          <a:p>
            <a:pPr algn="ctr"/>
            <a:r>
              <a:rPr lang="es-MX" sz="10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(FDMA)</a:t>
            </a:r>
            <a:endParaRPr lang="es-MX" sz="1000" b="0" i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5500076-5CBA-4997-B740-940F19CBC297}"/>
              </a:ext>
            </a:extLst>
          </p:cNvPr>
          <p:cNvSpPr txBox="1"/>
          <p:nvPr/>
        </p:nvSpPr>
        <p:spPr>
          <a:xfrm>
            <a:off x="1661719" y="1628800"/>
            <a:ext cx="1390124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1600" dirty="0">
                <a:solidFill>
                  <a:srgbClr val="FF0000"/>
                </a:solidFill>
              </a:rPr>
              <a:t>Generaciones</a:t>
            </a:r>
            <a:endParaRPr lang="es-CO" sz="1600" dirty="0">
              <a:solidFill>
                <a:srgbClr val="FF000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4D5351-2813-4380-B710-004CC3FA0B08}"/>
              </a:ext>
            </a:extLst>
          </p:cNvPr>
          <p:cNvSpPr txBox="1"/>
          <p:nvPr/>
        </p:nvSpPr>
        <p:spPr>
          <a:xfrm>
            <a:off x="9766820" y="4838963"/>
            <a:ext cx="1451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b="0" i="0" dirty="0">
                <a:effectLst/>
                <a:latin typeface="Arial" panose="020B0604020202020204" pitchFamily="34" charset="0"/>
              </a:rPr>
              <a:t> </a:t>
            </a:r>
            <a:r>
              <a:rPr lang="es-MX" sz="1000" b="1" dirty="0">
                <a:latin typeface="Arial" panose="020B0604020202020204" pitchFamily="34" charset="0"/>
              </a:rPr>
              <a:t>95</a:t>
            </a:r>
            <a:r>
              <a:rPr lang="es-MX" sz="1000" b="1" i="0" dirty="0">
                <a:effectLst/>
                <a:latin typeface="Arial" panose="020B0604020202020204" pitchFamily="34" charset="0"/>
              </a:rPr>
              <a:t> GHz y 3 </a:t>
            </a:r>
            <a:r>
              <a:rPr lang="es-MX" sz="1000" b="1" dirty="0">
                <a:latin typeface="Arial" panose="020B0604020202020204" pitchFamily="34" charset="0"/>
              </a:rPr>
              <a:t>T</a:t>
            </a:r>
            <a:r>
              <a:rPr lang="es-MX" sz="1000" b="1" i="0" dirty="0">
                <a:effectLst/>
                <a:latin typeface="Arial" panose="020B0604020202020204" pitchFamily="34" charset="0"/>
              </a:rPr>
              <a:t>Hz</a:t>
            </a:r>
            <a:endParaRPr lang="es-CO" sz="10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F0B92E8-7C30-4633-A139-33F108FFA0DC}"/>
              </a:ext>
            </a:extLst>
          </p:cNvPr>
          <p:cNvSpPr txBox="1"/>
          <p:nvPr/>
        </p:nvSpPr>
        <p:spPr>
          <a:xfrm>
            <a:off x="9252142" y="5035099"/>
            <a:ext cx="2039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dirty="0">
                <a:solidFill>
                  <a:srgbClr val="FFFF00"/>
                </a:solidFill>
                <a:latin typeface="Arial" panose="020B0604020202020204" pitchFamily="34" charset="0"/>
              </a:rPr>
              <a:t>(OFDM-MIMO MASIVO, ??...</a:t>
            </a:r>
            <a:r>
              <a:rPr lang="es-CO" sz="1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)</a:t>
            </a:r>
            <a:endParaRPr lang="es-CO" sz="1000" dirty="0">
              <a:solidFill>
                <a:srgbClr val="FFFF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69E1C0-3E0D-44F9-B791-2175CD20D93A}"/>
              </a:ext>
            </a:extLst>
          </p:cNvPr>
          <p:cNvSpPr txBox="1"/>
          <p:nvPr/>
        </p:nvSpPr>
        <p:spPr>
          <a:xfrm>
            <a:off x="9334772" y="1872531"/>
            <a:ext cx="193995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1200" dirty="0">
                <a:hlinkClick r:id="rId8"/>
              </a:rPr>
              <a:t>Imagen tomada de este link</a:t>
            </a:r>
            <a:endParaRPr lang="es-CO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7E459D-8252-5AA7-DDC1-0FE208ADCD0C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7E097F-A143-FC33-C910-6A46B9BC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1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Introducción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937F7C-3C13-4F57-B7CF-E0B811FB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4621779"/>
            <a:ext cx="963481" cy="139950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6404E7B-6414-43B3-A2A9-1B5D020BEB3B}"/>
              </a:ext>
            </a:extLst>
          </p:cNvPr>
          <p:cNvSpPr txBox="1"/>
          <p:nvPr/>
        </p:nvSpPr>
        <p:spPr>
          <a:xfrm>
            <a:off x="1413892" y="4747299"/>
            <a:ext cx="2263761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7200" dirty="0">
                <a:solidFill>
                  <a:srgbClr val="FFFF00"/>
                </a:solidFill>
              </a:rPr>
              <a:t>¿       ?</a:t>
            </a:r>
            <a:endParaRPr lang="es-CO" sz="7200" dirty="0">
              <a:solidFill>
                <a:srgbClr val="FFFF00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5500076-5CBA-4997-B740-940F19CBC297}"/>
              </a:ext>
            </a:extLst>
          </p:cNvPr>
          <p:cNvSpPr txBox="1"/>
          <p:nvPr/>
        </p:nvSpPr>
        <p:spPr>
          <a:xfrm>
            <a:off x="1661719" y="1746916"/>
            <a:ext cx="6973384" cy="32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Generaciones de las comunicaciones móviles inalámbricas</a:t>
            </a:r>
            <a:endParaRPr lang="es-CO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2" name="Picture 4" descr="Por Qué Necesitamos Una Red 5G? | Blog oficial de Kaspersky">
            <a:extLst>
              <a:ext uri="{FF2B5EF4-FFF2-40B4-BE49-F238E27FC236}">
                <a16:creationId xmlns:a16="http://schemas.microsoft.com/office/drawing/2014/main" id="{3721ECCA-73A2-476F-85DE-94B7A5E2B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459" y="2814435"/>
            <a:ext cx="1958326" cy="146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586AF0D-C23B-428D-B4E9-5554F1171A79}"/>
              </a:ext>
            </a:extLst>
          </p:cNvPr>
          <p:cNvSpPr txBox="1"/>
          <p:nvPr/>
        </p:nvSpPr>
        <p:spPr>
          <a:xfrm>
            <a:off x="3718148" y="2420888"/>
            <a:ext cx="4104456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Latencia: ¿1 ms (*)? </a:t>
            </a:r>
            <a:r>
              <a:rPr lang="es-MX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(el 4G es 100 ms)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5g + Fibra Óptica : </a:t>
            </a:r>
            <a:r>
              <a:rPr lang="es-MX" sz="1200" b="1" dirty="0">
                <a:solidFill>
                  <a:srgbClr val="00B05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EDGE COMPUTING</a:t>
            </a:r>
            <a:endParaRPr lang="es-MX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10 000 Mb/s = 10 Gb/s (el 4G es 200 Mb/s)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IA+ RV + RA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Internet de las cosas (todo y global)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M2M (máquinas y puntual)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LiFi</a:t>
            </a: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Light Fidelity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89453DE-0563-4622-82F3-6B9B2FF45A87}"/>
              </a:ext>
            </a:extLst>
          </p:cNvPr>
          <p:cNvSpPr txBox="1"/>
          <p:nvPr/>
        </p:nvSpPr>
        <p:spPr>
          <a:xfrm>
            <a:off x="3718148" y="4384178"/>
            <a:ext cx="4435830" cy="159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Latencia: ¿0.1 ms (*)?</a:t>
            </a:r>
            <a:endParaRPr lang="es-MX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5g + Fibra Óptica : </a:t>
            </a:r>
            <a:r>
              <a:rPr lang="es-MX" sz="1200" b="1" dirty="0">
                <a:solidFill>
                  <a:srgbClr val="00B05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EDGE COMPUTING</a:t>
            </a:r>
            <a:endParaRPr lang="es-MX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1 000 Gb/s = 1 Tb/s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endParaRPr lang="es-MX" sz="1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M2M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LiFi</a:t>
            </a:r>
            <a:r>
              <a:rPr lang="es-MX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(comunicación multiespectral)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Convivir con hologramas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Internet de los Sentidos: olfato, gusto,..</a:t>
            </a:r>
            <a:endParaRPr lang="es-CO" sz="12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09F176-F627-47FD-ABC8-2B1FB74A5447}"/>
              </a:ext>
            </a:extLst>
          </p:cNvPr>
          <p:cNvSpPr txBox="1"/>
          <p:nvPr/>
        </p:nvSpPr>
        <p:spPr>
          <a:xfrm>
            <a:off x="8030090" y="4006805"/>
            <a:ext cx="1068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MX" sz="4000" dirty="0">
                <a:solidFill>
                  <a:srgbClr val="FF0000"/>
                </a:solidFill>
              </a:rPr>
              <a:t>+</a:t>
            </a:r>
            <a:endParaRPr lang="es-CO" sz="4000" dirty="0">
              <a:solidFill>
                <a:srgbClr val="FF000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370401-0092-46BF-927C-8E5CD242E0B8}"/>
              </a:ext>
            </a:extLst>
          </p:cNvPr>
          <p:cNvSpPr/>
          <p:nvPr/>
        </p:nvSpPr>
        <p:spPr>
          <a:xfrm>
            <a:off x="9118748" y="2276873"/>
            <a:ext cx="2681880" cy="2736304"/>
          </a:xfrm>
          <a:prstGeom prst="rect">
            <a:avLst/>
          </a:prstGeom>
          <a:noFill/>
          <a:ln w="76200">
            <a:solidFill>
              <a:srgbClr val="FFFF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42522A4-EA42-4BDA-8D49-5738B2A74FDF}"/>
              </a:ext>
            </a:extLst>
          </p:cNvPr>
          <p:cNvSpPr txBox="1"/>
          <p:nvPr/>
        </p:nvSpPr>
        <p:spPr>
          <a:xfrm>
            <a:off x="9881054" y="5528400"/>
            <a:ext cx="2031325" cy="654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MX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INGENIERO(A)</a:t>
            </a:r>
          </a:p>
          <a:p>
            <a:pPr algn="ctr">
              <a:lnSpc>
                <a:spcPct val="90000"/>
              </a:lnSpc>
            </a:pPr>
            <a:r>
              <a:rPr lang="es-MX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FÍSICO(A)</a:t>
            </a:r>
            <a:endParaRPr lang="es-CO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E784906-E838-4B46-BAF2-32AD06897A11}"/>
              </a:ext>
            </a:extLst>
          </p:cNvPr>
          <p:cNvSpPr txBox="1"/>
          <p:nvPr/>
        </p:nvSpPr>
        <p:spPr>
          <a:xfrm>
            <a:off x="1674153" y="2174667"/>
            <a:ext cx="20439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>
                <a:solidFill>
                  <a:schemeClr val="tx1">
                    <a:lumMod val="50000"/>
                  </a:schemeClr>
                </a:solidFill>
                <a:hlinkClick r:id="rId5"/>
              </a:rPr>
              <a:t>Imagen tomada  de este link</a:t>
            </a:r>
            <a:endParaRPr lang="es-CO" sz="1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6010A6B-F76F-4EB8-91C2-0EC2B3BC003F}"/>
              </a:ext>
            </a:extLst>
          </p:cNvPr>
          <p:cNvSpPr txBox="1"/>
          <p:nvPr/>
        </p:nvSpPr>
        <p:spPr>
          <a:xfrm>
            <a:off x="9478788" y="5385990"/>
            <a:ext cx="5790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6000" dirty="0"/>
              <a:t>=</a:t>
            </a:r>
            <a:endParaRPr lang="es-CO" sz="6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0C3402-0844-4CF0-A65D-1915BC71C3CB}"/>
              </a:ext>
            </a:extLst>
          </p:cNvPr>
          <p:cNvSpPr txBox="1"/>
          <p:nvPr/>
        </p:nvSpPr>
        <p:spPr>
          <a:xfrm>
            <a:off x="9104981" y="2354899"/>
            <a:ext cx="2783139" cy="256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Teoría de Sistemas y Señales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Teoría de comunicaciones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Redes  de Sensores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Óptica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Electrónica y Robótica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Desarrollo de 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 (ML, DL)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Computación cuántica</a:t>
            </a:r>
            <a:endParaRPr lang="es-CO" sz="1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E3586A5A-E8DC-4C73-8455-90DBF92520C2}"/>
              </a:ext>
            </a:extLst>
          </p:cNvPr>
          <p:cNvSpPr/>
          <p:nvPr/>
        </p:nvSpPr>
        <p:spPr>
          <a:xfrm>
            <a:off x="8731822" y="4284364"/>
            <a:ext cx="297244" cy="91212"/>
          </a:xfrm>
          <a:prstGeom prst="right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CE16D61-8ECE-47ED-B8EF-3BBD40FE3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741" y="5360566"/>
            <a:ext cx="323384" cy="1020762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9DDAE89-7466-43A5-933D-708B2A918261}"/>
              </a:ext>
            </a:extLst>
          </p:cNvPr>
          <p:cNvSpPr txBox="1"/>
          <p:nvPr/>
        </p:nvSpPr>
        <p:spPr>
          <a:xfrm>
            <a:off x="8524072" y="6423139"/>
            <a:ext cx="20439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>
                <a:solidFill>
                  <a:schemeClr val="tx1">
                    <a:lumMod val="50000"/>
                  </a:schemeClr>
                </a:solidFill>
                <a:hlinkClick r:id="rId7"/>
              </a:rPr>
              <a:t>Imagen tomada  de este link</a:t>
            </a:r>
            <a:endParaRPr lang="es-CO" sz="1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658272-2E02-4E2A-93D6-E5E81A226403}"/>
              </a:ext>
            </a:extLst>
          </p:cNvPr>
          <p:cNvSpPr txBox="1"/>
          <p:nvPr/>
        </p:nvSpPr>
        <p:spPr>
          <a:xfrm>
            <a:off x="2205980" y="6156012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MX" sz="1000" dirty="0"/>
              <a:t>1 a 3 THz</a:t>
            </a:r>
          </a:p>
          <a:p>
            <a:pPr>
              <a:lnSpc>
                <a:spcPct val="90000"/>
              </a:lnSpc>
            </a:pPr>
            <a:r>
              <a:rPr lang="es-MX" sz="1000" dirty="0">
                <a:solidFill>
                  <a:srgbClr val="FFFF00"/>
                </a:solidFill>
              </a:rPr>
              <a:t>OFDM, …</a:t>
            </a:r>
            <a:endParaRPr lang="es-CO" sz="1000" dirty="0">
              <a:solidFill>
                <a:srgbClr val="FFFF00"/>
              </a:solidFill>
            </a:endParaRPr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070040B7-52F0-4F3C-B155-6C5BCD1D0B67}"/>
              </a:ext>
            </a:extLst>
          </p:cNvPr>
          <p:cNvSpPr/>
          <p:nvPr/>
        </p:nvSpPr>
        <p:spPr>
          <a:xfrm>
            <a:off x="7822604" y="2354899"/>
            <a:ext cx="468701" cy="396044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3F7E4B-EA39-4F7B-A534-2E4B2E99087D}"/>
              </a:ext>
            </a:extLst>
          </p:cNvPr>
          <p:cNvSpPr txBox="1"/>
          <p:nvPr/>
        </p:nvSpPr>
        <p:spPr>
          <a:xfrm>
            <a:off x="3400532" y="6093296"/>
            <a:ext cx="4653542" cy="65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¿*?:</a:t>
            </a:r>
          </a:p>
          <a:p>
            <a:pPr>
              <a:lnSpc>
                <a:spcPct val="90000"/>
              </a:lnSpc>
            </a:pPr>
            <a:r>
              <a:rPr lang="es-MX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 luz para darle la vuelta a la </a:t>
            </a:r>
            <a:r>
              <a:rPr lang="es-MX" sz="1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Línea del Ecuador</a:t>
            </a:r>
            <a:r>
              <a:rPr lang="es-MX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 demora 130 ms          (aprox. suponiendo vacío) . En 1 ms recorre 30 km (aprox.). </a:t>
            </a:r>
            <a:r>
              <a:rPr lang="es-MX" sz="10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EDGE COMPUTING</a:t>
            </a:r>
            <a:endParaRPr lang="es-CO" sz="1000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4B3B2E-96D9-8BD7-F6D4-7A62DC88AFD4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1B7928C-6E51-130B-FEEA-A9F0EA896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9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El </a:t>
            </a:r>
            <a:r>
              <a:rPr lang="es-MX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endParaRPr lang="es-CO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Imagen 9" descr="Firtec - Firtec">
            <a:extLst>
              <a:ext uri="{FF2B5EF4-FFF2-40B4-BE49-F238E27FC236}">
                <a16:creationId xmlns:a16="http://schemas.microsoft.com/office/drawing/2014/main" id="{62C6CCE1-2E99-430D-8A79-976CF310782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16" y="1916832"/>
            <a:ext cx="5616624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03D387-9E13-4873-A5A5-C248A143C502}"/>
              </a:ext>
            </a:extLst>
          </p:cNvPr>
          <p:cNvSpPr txBox="1"/>
          <p:nvPr/>
        </p:nvSpPr>
        <p:spPr>
          <a:xfrm>
            <a:off x="7705565" y="3356992"/>
            <a:ext cx="3801520" cy="12080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Patrón de diseño:</a:t>
            </a:r>
          </a:p>
          <a:p>
            <a:pPr>
              <a:lnSpc>
                <a:spcPct val="90000"/>
              </a:lnSpc>
            </a:pPr>
            <a:endParaRPr lang="es-MX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MX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</a:t>
            </a: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licador-</a:t>
            </a:r>
            <a:r>
              <a:rPr lang="es-MX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scriptor</a:t>
            </a:r>
          </a:p>
          <a:p>
            <a:pPr>
              <a:lnSpc>
                <a:spcPct val="90000"/>
              </a:lnSpc>
            </a:pP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MX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PUB-SUB</a:t>
            </a:r>
            <a:endParaRPr lang="es-CO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B5444F-3BD0-3734-ECA7-237F00A11B2B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90F3D1-50D9-3D74-1143-593711F7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1312C-D34C-4AA1-9C66-C768EF86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El </a:t>
            </a:r>
            <a:r>
              <a:rPr lang="es-MX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ESP32</a:t>
            </a:r>
            <a:endParaRPr lang="es-CO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AF8B26-CFB4-4351-831C-61AC58B5F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17" y="1628800"/>
            <a:ext cx="2880319" cy="214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EF1B2F6-E67B-4815-9DDC-D7C30F6D128B}"/>
              </a:ext>
            </a:extLst>
          </p:cNvPr>
          <p:cNvSpPr txBox="1"/>
          <p:nvPr/>
        </p:nvSpPr>
        <p:spPr>
          <a:xfrm>
            <a:off x="5878388" y="2852936"/>
            <a:ext cx="4608512" cy="33816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ES" sz="18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ESP32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es un microcontrolador de bajo costo y consumo de energía, cuenta con tecnología </a:t>
            </a:r>
            <a:r>
              <a:rPr lang="es-E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-Fi y Bluetooth de modo dual integrada que permite controlar todo tipo de sensores, módulos y actuadores. Es el sucesor del microcontrolador ESP8266.</a:t>
            </a:r>
            <a:endParaRPr lang="es-CO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4B3DB7-626D-456E-B8D2-33CC8367B610}"/>
              </a:ext>
            </a:extLst>
          </p:cNvPr>
          <p:cNvSpPr txBox="1"/>
          <p:nvPr/>
        </p:nvSpPr>
        <p:spPr>
          <a:xfrm>
            <a:off x="5878388" y="2060848"/>
            <a:ext cx="4608512" cy="59785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s-MX" b="1" i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SoC</a:t>
            </a:r>
            <a:r>
              <a:rPr lang="es-MX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(por sus siglas en inglés, </a:t>
            </a:r>
            <a:r>
              <a:rPr lang="es-MX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s-MX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s-MX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Chip) 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7569CFA-4376-46F4-89E0-2F3C0E767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3861048"/>
            <a:ext cx="2880319" cy="247031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9337E71-7FEA-9D57-4375-8BBF61056A88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4D6827-C19A-3819-CDC5-F264D1FA9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4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72985F62-F71B-4FC2-82CD-3E19A16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El IDE: Android Studio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C71F39F-0444-43AA-9C6A-D8E8C6629913}"/>
              </a:ext>
            </a:extLst>
          </p:cNvPr>
          <p:cNvSpPr txBox="1"/>
          <p:nvPr/>
        </p:nvSpPr>
        <p:spPr>
          <a:xfrm>
            <a:off x="1629916" y="2348880"/>
            <a:ext cx="9361040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 puesta en marcha del IDE a veces es un poco “costosa” por lo que se recomienda siempre desarrollar con la misma máquina para evitar pérdidas de tiempo y enredos innecesarios. Adicionalmente tener cuidado con las actualizaciones.</a:t>
            </a:r>
            <a:endParaRPr lang="es-CO" sz="20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34EEAB7-3386-C1C1-3A42-7E3FF9729409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2A5145-7B2D-C145-678A-A343CCE9B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6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E3BA419-DE8F-4F2E-8542-24A1D5B1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s-MX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MiPrimeraApp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74F2FFC-B9AA-4EC0-BD60-E1D61D449FE4}"/>
              </a:ext>
            </a:extLst>
          </p:cNvPr>
          <p:cNvSpPr txBox="1"/>
          <p:nvPr/>
        </p:nvSpPr>
        <p:spPr>
          <a:xfrm>
            <a:off x="1534243" y="1916832"/>
            <a:ext cx="9384705" cy="352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Ustedes desarrollaron una app que desplegó  el aviso “</a:t>
            </a:r>
            <a:r>
              <a:rPr lang="es-ES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Hola Mundo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”. Esta actividad permitió: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Alistar el IDE Android Studio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Configurarón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el dispositivo móvil en el modo </a:t>
            </a: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OPCIÓN DE DESARROLLADOR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 Esto para compilación y ejecución.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s-E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</a:t>
            </a:r>
            <a:r>
              <a:rPr lang="es-E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odavía </a:t>
            </a:r>
            <a:r>
              <a:rPr lang="es-ES" sz="20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</a:t>
            </a:r>
            <a:r>
              <a:rPr lang="es-E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 espera comprender en absoluto nada del código</a:t>
            </a:r>
            <a:r>
              <a:rPr lang="es-ES" sz="2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endParaRPr lang="es-CO" sz="20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15EA67B-BA78-F4B2-D322-673046F965BF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BE9947-7DC8-7434-A928-736B86CD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7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Una app en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AF34C34-4126-470A-BE27-6C791B1FA10F}"/>
              </a:ext>
            </a:extLst>
          </p:cNvPr>
          <p:cNvSpPr txBox="1"/>
          <p:nvPr/>
        </p:nvSpPr>
        <p:spPr>
          <a:xfrm>
            <a:off x="1701924" y="2276872"/>
            <a:ext cx="8136904" cy="84728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Una APP como mínimo debe contener una </a:t>
            </a:r>
            <a:r>
              <a:rPr lang="es-E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Activity</a:t>
            </a:r>
            <a:endParaRPr lang="es-CO" sz="18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00D7A0E-E5B9-4EC9-AFF1-00E218C4843F}"/>
              </a:ext>
            </a:extLst>
          </p:cNvPr>
          <p:cNvSpPr txBox="1"/>
          <p:nvPr/>
        </p:nvSpPr>
        <p:spPr>
          <a:xfrm>
            <a:off x="1703297" y="3645024"/>
            <a:ext cx="8136904" cy="21876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 general: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 = Σ Actividades </a:t>
            </a:r>
            <a:endParaRPr lang="es-CO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Cada </a:t>
            </a:r>
            <a:r>
              <a:rPr lang="es-ES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Activity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debe declarase en el </a:t>
            </a: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archivo manifiesto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BB0D7F9-95E1-5026-A18B-0128CE5CFE09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A7BBD3-8D79-44DF-B527-C07F517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4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280F0-08AF-4ADF-9E92-AF1D4AA8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Clases y Objetos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E49E25-520B-4D28-97A2-75D742E21FFE}"/>
              </a:ext>
            </a:extLst>
          </p:cNvPr>
          <p:cNvSpPr txBox="1"/>
          <p:nvPr/>
        </p:nvSpPr>
        <p:spPr>
          <a:xfrm>
            <a:off x="1413892" y="1897977"/>
            <a:ext cx="10225136" cy="107106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Las 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clases</a:t>
            </a:r>
            <a:r>
              <a:rPr lang="es-E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(abstracción) son las plantillas para crear 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objetos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(concreto) o 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instancias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 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ejemplares</a:t>
            </a:r>
            <a:endParaRPr lang="es-CO" sz="18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911756-97E0-409D-99E7-18A16D2AF6FA}"/>
              </a:ext>
            </a:extLst>
          </p:cNvPr>
          <p:cNvSpPr txBox="1"/>
          <p:nvPr/>
        </p:nvSpPr>
        <p:spPr>
          <a:xfrm>
            <a:off x="1413892" y="3140968"/>
            <a:ext cx="10181360" cy="33409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 clase más simple: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b="1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s-ES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b="1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</a:t>
            </a:r>
            <a:endParaRPr lang="es-CO" b="1" dirty="0">
              <a:solidFill>
                <a:srgbClr val="00B05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</a:t>
            </a: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 </a:t>
            </a:r>
            <a:endParaRPr lang="es-CO" b="1" dirty="0">
              <a:solidFill>
                <a:srgbClr val="00B05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endParaRPr lang="es-ES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 hace NADA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6BB64A-6726-F359-4D75-13A2EC299EA5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647086-DAD7-E918-C2B6-753E2413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19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280F0-08AF-4ADF-9E92-AF1D4AA8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Clases y Objetos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E49E25-520B-4D28-97A2-75D742E21FFE}"/>
              </a:ext>
            </a:extLst>
          </p:cNvPr>
          <p:cNvSpPr txBox="1"/>
          <p:nvPr/>
        </p:nvSpPr>
        <p:spPr>
          <a:xfrm>
            <a:off x="1522414" y="2348880"/>
            <a:ext cx="9793088" cy="26789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Una clase bien elaborada tiene: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Atributos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s-E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variables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s-ES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Comportamiento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s-E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métodos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): </a:t>
            </a:r>
            <a:r>
              <a:rPr lang="es-ES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constructores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set, </a:t>
            </a:r>
            <a:r>
              <a:rPr lang="es-ES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</a:t>
            </a:r>
            <a:r>
              <a:rPr lang="es-ES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y otros.</a:t>
            </a:r>
            <a:endParaRPr lang="es-CO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B22CE7-305F-5A08-B67C-3BEFAEB0898B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D7806F-08F7-52F6-13D2-3433EC60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8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280F0-08AF-4ADF-9E92-AF1D4AA8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214" y="510381"/>
            <a:ext cx="5508103" cy="1020762"/>
          </a:xfrm>
        </p:spPr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Clases y Objetos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BF63B5-E594-4A18-A606-E660CFD3B962}"/>
              </a:ext>
            </a:extLst>
          </p:cNvPr>
          <p:cNvSpPr txBox="1"/>
          <p:nvPr/>
        </p:nvSpPr>
        <p:spPr>
          <a:xfrm>
            <a:off x="1773932" y="2492896"/>
            <a:ext cx="9505056" cy="365741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Crear objetos tipo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autoUno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autoDos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autoTres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Automovil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(“Renault”);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4958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Acceder a los métodos: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autoTres.setColorPintura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(“Rojo”);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autoDos.arrancar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EBA1ED-5827-4474-9451-3FF1040FE936}"/>
              </a:ext>
            </a:extLst>
          </p:cNvPr>
          <p:cNvSpPr txBox="1"/>
          <p:nvPr/>
        </p:nvSpPr>
        <p:spPr>
          <a:xfrm>
            <a:off x="1698779" y="1929343"/>
            <a:ext cx="4182555" cy="348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Ver código de clase </a:t>
            </a:r>
            <a:r>
              <a:rPr lang="es-MX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Automovil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92E7AD-4009-D6E0-B280-A3C138909DC0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8B5E81-205E-DEFA-E1D1-246E28C8B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7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Dibujando con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06CD4E-38BC-4305-A2E0-9B200A31E533}"/>
              </a:ext>
            </a:extLst>
          </p:cNvPr>
          <p:cNvSpPr txBox="1"/>
          <p:nvPr/>
        </p:nvSpPr>
        <p:spPr>
          <a:xfrm>
            <a:off x="1773932" y="2276872"/>
            <a:ext cx="9396534" cy="334245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E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Cuando se está dibujando (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en general programando</a:t>
            </a:r>
            <a:r>
              <a:rPr lang="es-E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…) recomiendo:</a:t>
            </a:r>
            <a:endParaRPr lang="es-CO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s-CO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“</a:t>
            </a:r>
            <a:r>
              <a:rPr lang="es-ES" sz="1800" b="1" u="sng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Copy</a:t>
            </a:r>
            <a:r>
              <a:rPr lang="es-ES" sz="1800" b="1" u="sng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and Paste</a:t>
            </a: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” del código para dibujar primitivas.</a:t>
            </a:r>
            <a:endParaRPr lang="es-CO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s-CO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Siempre “</a:t>
            </a:r>
            <a:r>
              <a:rPr lang="es-E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googeliar</a:t>
            </a: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” es una buena práctica cuando se está programando (palabra clave</a:t>
            </a:r>
            <a:r>
              <a:rPr lang="es-E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s-E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programmatically</a:t>
            </a: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</a:t>
            </a:r>
            <a:r>
              <a:rPr lang="es-ES" sz="18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Esto implica programar usando código java y no código XML</a:t>
            </a:r>
            <a:r>
              <a:rPr lang="es-ES" sz="1800" b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</a:t>
            </a:r>
            <a:endParaRPr lang="es-CO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3BECFD-2B51-BC39-871E-D0BC29DD2931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9311DD-D25C-765A-03B1-B5E674AF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1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Dibujando con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E8A415-9C45-4E08-9911-3EB14559A664}"/>
              </a:ext>
            </a:extLst>
          </p:cNvPr>
          <p:cNvSpPr txBox="1"/>
          <p:nvPr/>
        </p:nvSpPr>
        <p:spPr>
          <a:xfrm>
            <a:off x="1571001" y="2078788"/>
            <a:ext cx="9952061" cy="440005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ES" sz="20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Algunos detalles</a:t>
            </a:r>
            <a:r>
              <a:rPr lang="es-ES" sz="2000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2000" u="sng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cuando se está dibujando</a:t>
            </a:r>
            <a:endParaRPr lang="es-CO" sz="1200" u="sng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 clase que dibuja hereda de </a:t>
            </a:r>
            <a:r>
              <a:rPr lang="es-ES" sz="14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View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 En nuestro caso es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Pizarra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que se ubicó dentro del paquete componentes.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685800"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 dibuja en el método </a:t>
            </a:r>
            <a:r>
              <a:rPr lang="es-ES" sz="14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onDraw</a:t>
            </a:r>
            <a:r>
              <a:rPr lang="es-ES" sz="14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s-ES" sz="14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</a:t>
            </a:r>
            <a:r>
              <a:rPr lang="es-ES" sz="14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</a:t>
            </a:r>
            <a:r>
              <a:rPr lang="es-ES" sz="14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400" b="1" dirty="0">
              <a:solidFill>
                <a:srgbClr val="FFFF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es la hoja o tablero o lienzo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dode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 dib</a:t>
            </a:r>
            <a:r>
              <a:rPr lang="es-ES" sz="16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uja</a:t>
            </a:r>
            <a:endParaRPr lang="es-CO" sz="12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esquina superior izquierda es (0,0)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 Eje X positivo hacia la derecha y eje Y positivo hacia abajo. </a:t>
            </a:r>
            <a:r>
              <a:rPr lang="es-ES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¿</a:t>
            </a:r>
            <a:r>
              <a:rPr lang="es-ES" sz="16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EjeZ</a:t>
            </a:r>
            <a:r>
              <a:rPr lang="es-ES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685800"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 dibuja con el lápiz que es de tipo Paint:</a:t>
            </a: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 algn="just">
              <a:lnSpc>
                <a:spcPct val="115000"/>
              </a:lnSpc>
            </a:pPr>
            <a:r>
              <a:rPr lang="es-ES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Paint pincel = </a:t>
            </a:r>
            <a:r>
              <a:rPr lang="es-ES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s-ES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Paint();</a:t>
            </a:r>
            <a:endParaRPr lang="es-CO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F8235E-BB73-4A5D-8BC9-890033E2A2B2}"/>
              </a:ext>
            </a:extLst>
          </p:cNvPr>
          <p:cNvSpPr txBox="1"/>
          <p:nvPr/>
        </p:nvSpPr>
        <p:spPr>
          <a:xfrm>
            <a:off x="1487429" y="1730231"/>
            <a:ext cx="3768980" cy="348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Ver código de </a:t>
            </a:r>
            <a:r>
              <a:rPr lang="es-MX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MiTerceraApp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ED61E7-C095-37DC-F3DD-ABE2D0F493E0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74DA0F-377B-33E2-3A9E-32E79424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39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Una app en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E8A415-9C45-4E08-9911-3EB14559A664}"/>
              </a:ext>
            </a:extLst>
          </p:cNvPr>
          <p:cNvSpPr txBox="1"/>
          <p:nvPr/>
        </p:nvSpPr>
        <p:spPr>
          <a:xfrm>
            <a:off x="1555024" y="1916832"/>
            <a:ext cx="9952061" cy="454393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ES" sz="2000" b="1" u="sng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Continuación</a:t>
            </a:r>
            <a:r>
              <a:rPr lang="es-ES" sz="20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dibujando …</a:t>
            </a:r>
            <a:endParaRPr lang="es-CO" sz="1200" b="1" u="sng" dirty="0">
              <a:solidFill>
                <a:srgbClr val="FF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Para evitar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efecto “sierra”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685800"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581660" indent="581660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pincel.setAntiAlias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es-CO" sz="11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685800"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Para controlar el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grosor del lápiz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1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es-E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pincel.setStrokeWidth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s-E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float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grosor);</a:t>
            </a:r>
            <a:endParaRPr lang="es-CO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744980" algn="l"/>
              </a:tabLs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Para asignar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 al lápiz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es-E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pincel.setColor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s-E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Color.</a:t>
            </a:r>
            <a:r>
              <a:rPr lang="es-ES" sz="1600" b="1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RED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es-CO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685800" algn="just">
              <a:lnSpc>
                <a:spcPct val="115000"/>
              </a:lnSpc>
              <a:spcAft>
                <a:spcPts val="0"/>
              </a:spcAft>
            </a:pP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Nota: </a:t>
            </a:r>
            <a:r>
              <a:rPr lang="es-ES" sz="12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 color puede ser de dimensión 3 o dimensión 4 si tiene transparencia.</a:t>
            </a:r>
            <a:endParaRPr lang="es-CO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E18663-F720-7390-2D16-100C7C26E4AE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0C94C9-DE28-FAD0-A5CC-9DD689FC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8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Dibujando con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E8A415-9C45-4E08-9911-3EB14559A664}"/>
              </a:ext>
            </a:extLst>
          </p:cNvPr>
          <p:cNvSpPr txBox="1"/>
          <p:nvPr/>
        </p:nvSpPr>
        <p:spPr>
          <a:xfrm>
            <a:off x="1614779" y="1772816"/>
            <a:ext cx="9952061" cy="346614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ES" sz="2000" b="1" u="sng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Continuación</a:t>
            </a:r>
            <a:r>
              <a:rPr lang="es-ES" sz="20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dibujando …</a:t>
            </a:r>
            <a:endParaRPr lang="es-CO" sz="1200" b="1" u="sng" dirty="0">
              <a:solidFill>
                <a:srgbClr val="FF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Para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rellenar dibujo (</a:t>
            </a:r>
            <a:r>
              <a:rPr lang="es-ES" sz="1600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ambién se ven mejor las letras):</a:t>
            </a:r>
          </a:p>
          <a:p>
            <a:pPr algn="just">
              <a:lnSpc>
                <a:spcPct val="115000"/>
              </a:lnSpc>
            </a:pPr>
            <a:endParaRPr lang="en-US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</a:pPr>
            <a:r>
              <a:rPr lang="en-US" sz="1600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pincel.setStyle</a:t>
            </a:r>
            <a:r>
              <a:rPr lang="en-U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Paint.Style.</a:t>
            </a:r>
            <a:r>
              <a:rPr lang="en-US" sz="1600" b="1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FILL</a:t>
            </a:r>
            <a:r>
              <a:rPr lang="en-U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s-CO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es-ES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Para 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dibujar solo los bordes</a:t>
            </a:r>
            <a:r>
              <a:rPr lang="es-E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pincel.setStyle</a:t>
            </a:r>
            <a:r>
              <a:rPr lang="en-U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Paint.Style.</a:t>
            </a:r>
            <a:r>
              <a:rPr lang="en-US" sz="1600" b="1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STROKE</a:t>
            </a:r>
            <a:r>
              <a:rPr lang="en-US" sz="16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es-ES" sz="1600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es-ES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</a:pPr>
            <a:r>
              <a:rPr lang="es-ES" sz="1600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endParaRPr lang="es-CO" sz="16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171450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A30832-A7FB-453D-9FAC-214434D15F74}"/>
              </a:ext>
            </a:extLst>
          </p:cNvPr>
          <p:cNvSpPr txBox="1"/>
          <p:nvPr/>
        </p:nvSpPr>
        <p:spPr>
          <a:xfrm>
            <a:off x="2630369" y="5820076"/>
            <a:ext cx="7920880" cy="541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16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OJO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Las instrucciones del tipo de lápiz y transformaciones afines se siguen aplicando hacia adelante.</a:t>
            </a:r>
            <a:endParaRPr lang="es-CO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204FA1-18FC-CF1E-C798-3D26D2C5B7EA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1862C8-583C-DB22-C5EE-B018741B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8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Dibujando con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E8A415-9C45-4E08-9911-3EB14559A664}"/>
              </a:ext>
            </a:extLst>
          </p:cNvPr>
          <p:cNvSpPr txBox="1"/>
          <p:nvPr/>
        </p:nvSpPr>
        <p:spPr>
          <a:xfrm>
            <a:off x="1606169" y="1977849"/>
            <a:ext cx="9952061" cy="148406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ES" sz="2000" b="1" u="sng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Continuación</a:t>
            </a:r>
            <a:r>
              <a:rPr lang="es-ES" sz="20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dibujando …</a:t>
            </a:r>
            <a:endParaRPr lang="es-CO" sz="1200" b="1" u="sng" dirty="0">
              <a:solidFill>
                <a:srgbClr val="FF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marL="171450" indent="-1714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Las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b="1" u="sng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transformaciones afines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actúan es sobre el </a:t>
            </a:r>
            <a:r>
              <a:rPr lang="es-ES" sz="16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</a:t>
            </a: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</a:p>
          <a:p>
            <a:pPr algn="just">
              <a:lnSpc>
                <a:spcPct val="115000"/>
              </a:lnSpc>
            </a:pPr>
            <a:r>
              <a:rPr lang="es-ES" sz="1600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endParaRPr lang="es-CO" sz="16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171450" indent="-1714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O" sz="1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A30832-A7FB-453D-9FAC-214434D15F74}"/>
              </a:ext>
            </a:extLst>
          </p:cNvPr>
          <p:cNvSpPr txBox="1"/>
          <p:nvPr/>
        </p:nvSpPr>
        <p:spPr>
          <a:xfrm>
            <a:off x="2349996" y="4581128"/>
            <a:ext cx="7920880" cy="541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1600" b="1" u="sng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OJO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Las instrucciones del tipo de lápiz y transformaciones afines se siguen aplicando hacia adelante.</a:t>
            </a:r>
            <a:endParaRPr lang="es-CO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3E5261-FD5C-BB10-3A93-03B2D36943CE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8FF4D2-FAE1-7ED0-95E5-6B0E23CE8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0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Dibujando con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86B351-EA4A-41EC-911A-AEC16AC54747}"/>
              </a:ext>
            </a:extLst>
          </p:cNvPr>
          <p:cNvSpPr txBox="1"/>
          <p:nvPr/>
        </p:nvSpPr>
        <p:spPr>
          <a:xfrm>
            <a:off x="3502124" y="2260457"/>
            <a:ext cx="8496944" cy="353327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Divisiones pequeñas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 dibuja primero la división vertical.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Luego se repite rotando de a 10 grados comenzando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en 235 grados.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pincel.setStyle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Paint.Style.STROKE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26; i = i + 1) </a:t>
            </a:r>
            <a:r>
              <a:rPr lang="es-CO" sz="1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s-CO" sz="12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s-C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anguloRotacion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235 + 10 * i;</a:t>
            </a:r>
          </a:p>
          <a:p>
            <a:pPr>
              <a:lnSpc>
                <a:spcPct val="90000"/>
              </a:lnSpc>
            </a:pPr>
            <a:endParaRPr lang="es-C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canvas.rotate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anguloRotacion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0, 0);</a:t>
            </a:r>
          </a:p>
          <a:p>
            <a:pPr>
              <a:lnSpc>
                <a:spcPct val="90000"/>
              </a:lnSpc>
            </a:pPr>
            <a:endParaRPr lang="es-C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canvas.drawLine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(0, -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posicionY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0, -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posicionY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(0.2 *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), pincel);</a:t>
            </a:r>
          </a:p>
          <a:p>
            <a:pPr>
              <a:lnSpc>
                <a:spcPct val="90000"/>
              </a:lnSpc>
            </a:pPr>
            <a:endParaRPr lang="es-C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canvas.rotate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lang="es-C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anguloRotacion</a:t>
            </a: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0, 0);</a:t>
            </a:r>
          </a:p>
          <a:p>
            <a:pPr>
              <a:lnSpc>
                <a:spcPct val="90000"/>
              </a:lnSpc>
            </a:pPr>
            <a:endParaRPr lang="es-C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s-C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O" sz="16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CO" sz="1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5EFCFD-339C-4703-AD8B-4C127C887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18" y="2644228"/>
            <a:ext cx="2390054" cy="273860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4E3948E-363D-404B-4A53-97F5E6CDE727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B37546-4D89-417C-9274-B17AEFA81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8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Los COMENTARIOS en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465D9F-01E8-4593-91A9-53C03A151D17}"/>
              </a:ext>
            </a:extLst>
          </p:cNvPr>
          <p:cNvSpPr txBox="1"/>
          <p:nvPr/>
        </p:nvSpPr>
        <p:spPr>
          <a:xfrm>
            <a:off x="1693544" y="2410658"/>
            <a:ext cx="9767330" cy="305699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Los </a:t>
            </a:r>
            <a:r>
              <a:rPr lang="es-ES" sz="2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comentarios</a:t>
            </a: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son importantes pero </a:t>
            </a:r>
            <a:r>
              <a:rPr lang="es-ES" sz="2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</a:t>
            </a: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son cód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igo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28600" algn="just">
              <a:lnSpc>
                <a:spcPct val="115000"/>
              </a:lnSpc>
              <a:spcAft>
                <a:spcPts val="1000"/>
              </a:spcAft>
            </a:pP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 de línea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s-ES" sz="1400" b="1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//cálculo para el centro de la pizarra</a:t>
            </a:r>
            <a:br>
              <a:rPr lang="es-ES" sz="14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s-E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anchoPizarra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.getWidth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b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s-E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altoPizarra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.getHeight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b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float</a:t>
            </a:r>
            <a:r>
              <a:rPr lang="es-E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centroXPizarra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 (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float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)(0.5*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anchoPizarra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b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float</a:t>
            </a:r>
            <a:r>
              <a:rPr lang="es-E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centroYPizarra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 (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float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)(0.5*</a:t>
            </a:r>
            <a:r>
              <a:rPr lang="es-E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altoPizarra</a:t>
            </a:r>
            <a:r>
              <a:rPr lang="es-E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s-CO" sz="4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E5B840-5C11-BA67-68B9-2EFD0A794662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6AE4F60-584F-4385-88C9-B2AA7ECB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6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465D9F-01E8-4593-91A9-53C03A151D17}"/>
              </a:ext>
            </a:extLst>
          </p:cNvPr>
          <p:cNvSpPr txBox="1"/>
          <p:nvPr/>
        </p:nvSpPr>
        <p:spPr>
          <a:xfrm>
            <a:off x="1614779" y="1844824"/>
            <a:ext cx="6135817" cy="450854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Los </a:t>
            </a:r>
            <a:r>
              <a:rPr lang="es-ES" sz="2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comentarios</a:t>
            </a: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continuación…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 de varias líneas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es-CO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s-CO" sz="1400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/*</a:t>
            </a:r>
          </a:p>
          <a:p>
            <a:pPr lvl="0">
              <a:spcAft>
                <a:spcPts val="1000"/>
              </a:spcAft>
            </a:pP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Dibujar círculo opaco relleno de blanco</a:t>
            </a:r>
            <a:b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centrado en la pantalla y de radio</a:t>
            </a:r>
            <a:b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0.4*largo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s-ES" sz="1400" b="1" i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s-CO" sz="1400" b="1" dirty="0">
                <a:solidFill>
                  <a:srgbClr val="FFFF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*/</a:t>
            </a:r>
            <a:endParaRPr lang="es-CO" sz="14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float</a:t>
            </a:r>
            <a:r>
              <a:rPr lang="es-E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radio=(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float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)(0.4*largo);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pincel.setColor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Color.</a:t>
            </a:r>
            <a:r>
              <a:rPr lang="es-ES" sz="1400" b="1" i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WHITE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canvas.drawCircle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(0, 0, radio, pincel);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pincel.setColor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Color.</a:t>
            </a:r>
            <a:r>
              <a:rPr lang="es-ES" sz="1400" b="1" i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BLACK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pincel.setStyle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Paint.Style.</a:t>
            </a:r>
            <a:r>
              <a:rPr lang="es-ES" sz="1400" b="1" i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STROKE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canvas.drawCircle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(0, 0, radio, pincel);</a:t>
            </a:r>
            <a:endParaRPr lang="es-ES" sz="1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EE8CDC-3B43-4BFE-9347-531D24E80B0F}"/>
              </a:ext>
            </a:extLst>
          </p:cNvPr>
          <p:cNvSpPr txBox="1"/>
          <p:nvPr/>
        </p:nvSpPr>
        <p:spPr>
          <a:xfrm>
            <a:off x="7842961" y="3573016"/>
            <a:ext cx="3312368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OJO: </a:t>
            </a:r>
            <a:r>
              <a:rPr lang="es-ES" sz="1800" b="1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No es </a:t>
            </a:r>
            <a:r>
              <a:rPr lang="es-ES" sz="1800" b="1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anidable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7" name="Título 4">
            <a:extLst>
              <a:ext uri="{FF2B5EF4-FFF2-40B4-BE49-F238E27FC236}">
                <a16:creationId xmlns:a16="http://schemas.microsoft.com/office/drawing/2014/main" id="{CC56CC69-5F8B-443D-863D-B281568D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Los COMENTARIOS en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775F0B-3927-B914-4EB4-3E9C6FD1547E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835ECD-E793-405B-1C9F-CF5D090E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2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465D9F-01E8-4593-91A9-53C03A151D17}"/>
              </a:ext>
            </a:extLst>
          </p:cNvPr>
          <p:cNvSpPr txBox="1"/>
          <p:nvPr/>
        </p:nvSpPr>
        <p:spPr>
          <a:xfrm>
            <a:off x="1614779" y="1700808"/>
            <a:ext cx="6732238" cy="457009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Los </a:t>
            </a:r>
            <a:r>
              <a:rPr lang="es-ES" sz="2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comentarios</a:t>
            </a:r>
            <a:r>
              <a:rPr lang="es-E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continuación…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Comentario de </a:t>
            </a:r>
            <a:r>
              <a:rPr lang="es-ES" sz="16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Javadoc</a:t>
            </a:r>
            <a:r>
              <a:rPr lang="es-ES" sz="1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/**</a:t>
            </a:r>
            <a:b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 Modifica el rango de </a:t>
            </a:r>
            <a:r>
              <a:rPr lang="es-ES" sz="1400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medicion</a:t>
            </a:r>
            <a:b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 desde </a:t>
            </a:r>
            <a:r>
              <a:rPr lang="es-ES" sz="1400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minimo</a:t>
            </a: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hasta </a:t>
            </a:r>
            <a:r>
              <a:rPr lang="es-ES" sz="1400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maximo</a:t>
            </a:r>
            <a:b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 </a:t>
            </a:r>
            <a:r>
              <a:rPr lang="es-ES" sz="1400" b="1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@param </a:t>
            </a:r>
            <a:r>
              <a:rPr lang="es-ES" sz="1400" b="1" i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minimo</a:t>
            </a:r>
            <a:br>
              <a:rPr lang="es-ES" sz="1400" b="1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b="1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 </a:t>
            </a:r>
            <a:r>
              <a:rPr lang="es-ES" sz="1400" b="1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@param máximo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400" i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*/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s-E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s-E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setRango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float</a:t>
            </a:r>
            <a:r>
              <a:rPr lang="es-E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float</a:t>
            </a:r>
            <a:r>
              <a:rPr lang="es-ES" sz="14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maximo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){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this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.minimo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b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s-ES" sz="14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this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.maximo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s-ES" sz="1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maximo</a:t>
            </a:r>
            <a:r>
              <a:rPr lang="es-ES" sz="1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s-CO" sz="1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A4A1BF-5389-4E1F-AFDF-83DE46051850}"/>
              </a:ext>
            </a:extLst>
          </p:cNvPr>
          <p:cNvSpPr txBox="1"/>
          <p:nvPr/>
        </p:nvSpPr>
        <p:spPr>
          <a:xfrm>
            <a:off x="8487761" y="3902929"/>
            <a:ext cx="2986714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OJO: </a:t>
            </a:r>
            <a:r>
              <a:rPr lang="es-ES" sz="1800" b="1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No es </a:t>
            </a:r>
            <a:r>
              <a:rPr lang="es-ES" sz="1800" b="1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anidable</a:t>
            </a:r>
            <a:endParaRPr lang="es-CO" sz="16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2" name="Título 4">
            <a:extLst>
              <a:ext uri="{FF2B5EF4-FFF2-40B4-BE49-F238E27FC236}">
                <a16:creationId xmlns:a16="http://schemas.microsoft.com/office/drawing/2014/main" id="{FF44EAD2-D5D0-4C1E-85DC-6050652D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Los COMENTARIOS en ANDROID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FF1578-1921-8214-5435-FE9831479920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BE629E-B897-0DDE-BD16-F7006E31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9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El archivo manifiesto (CONTRATO)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465D9F-01E8-4593-91A9-53C03A151D17}"/>
              </a:ext>
            </a:extLst>
          </p:cNvPr>
          <p:cNvSpPr txBox="1"/>
          <p:nvPr/>
        </p:nvSpPr>
        <p:spPr>
          <a:xfrm>
            <a:off x="1406323" y="1700808"/>
            <a:ext cx="9376177" cy="47348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 </a:t>
            </a:r>
            <a:r>
              <a:rPr lang="es-E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archivo manifiesto </a:t>
            </a:r>
            <a:r>
              <a:rPr lang="es-E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está escrito en el lenguaje de marcas XML.</a:t>
            </a:r>
            <a:endParaRPr lang="es-CO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 algn="ctr">
              <a:lnSpc>
                <a:spcPct val="115000"/>
              </a:lnSpc>
              <a:spcAft>
                <a:spcPts val="1000"/>
              </a:spcAft>
            </a:pPr>
            <a:endParaRPr lang="es-CO" sz="1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12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manifest</a:t>
            </a:r>
            <a:r>
              <a:rPr lang="en-US" sz="12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xmlns:android</a:t>
            </a:r>
            <a:r>
              <a:rPr lang="en-US" sz="12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="http://schemas.android.com/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apk</a:t>
            </a:r>
            <a:r>
              <a:rPr lang="en-US" sz="12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/res/android"</a:t>
            </a:r>
            <a:br>
              <a:rPr lang="en-US" sz="12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package="</a:t>
            </a:r>
            <a:r>
              <a:rPr lang="en-US" sz="12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com.curso_instrumentacion.misegundaapp</a:t>
            </a:r>
            <a:r>
              <a:rPr lang="en-US" sz="12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"&gt;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1200" dirty="0">
                <a:solidFill>
                  <a:srgbClr val="00008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application</a:t>
            </a:r>
            <a:br>
              <a:rPr lang="en-US" sz="1200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00008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android:allowBackup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="true"</a:t>
            </a:r>
            <a:b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android:icon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="@mipmap/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ic_launcher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b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android:label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="@string/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app_name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b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android:roundIcon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="@mipmap/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ic_launcher_round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b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android:supportsRtl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="true"</a:t>
            </a:r>
            <a:b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android:theme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="@style/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AppTheme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 &gt;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effectLst/>
                <a:highlight>
                  <a:srgbClr val="0000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1200" b="1" dirty="0">
                <a:effectLst/>
                <a:highlight>
                  <a:srgbClr val="0000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activity 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lang="en-US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effectLst/>
                <a:highlight>
                  <a:srgbClr val="0000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&lt;/</a:t>
            </a:r>
            <a:r>
              <a:rPr lang="en-US" sz="1200" b="1" dirty="0">
                <a:effectLst/>
                <a:highlight>
                  <a:srgbClr val="0000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activity</a:t>
            </a:r>
            <a:r>
              <a:rPr lang="en-US" sz="1200" dirty="0">
                <a:effectLst/>
                <a:highlight>
                  <a:srgbClr val="0000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b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&lt;/</a:t>
            </a:r>
            <a:r>
              <a:rPr lang="en-US" sz="1200" b="1" dirty="0">
                <a:solidFill>
                  <a:srgbClr val="00008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application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&lt;/</a:t>
            </a:r>
            <a:r>
              <a:rPr lang="en-US" sz="12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manifest</a:t>
            </a:r>
            <a:r>
              <a:rPr lang="en-US" sz="12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lang="es-CO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087694-E69B-DE07-F27D-F9F2E88A7857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9BAB2A9-55EB-AB80-E829-870F987D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0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D0D8B0-6953-444F-A842-D7BC1DE2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urier New" panose="02070309020205020404" pitchFamily="49" charset="0"/>
                <a:cs typeface="Courier New" panose="02070309020205020404" pitchFamily="49" charset="0"/>
              </a:rPr>
              <a:t>Distribuyendo la app (sin firma)</a:t>
            </a:r>
            <a:endParaRPr lang="es-CO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677342-A34E-44EE-B622-6F353378F62C}"/>
              </a:ext>
            </a:extLst>
          </p:cNvPr>
          <p:cNvSpPr txBox="1"/>
          <p:nvPr/>
        </p:nvSpPr>
        <p:spPr>
          <a:xfrm>
            <a:off x="1522414" y="25649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465D9F-01E8-4593-91A9-53C03A151D17}"/>
              </a:ext>
            </a:extLst>
          </p:cNvPr>
          <p:cNvSpPr txBox="1"/>
          <p:nvPr/>
        </p:nvSpPr>
        <p:spPr>
          <a:xfrm>
            <a:off x="1737928" y="4941168"/>
            <a:ext cx="8712968" cy="119135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Distribuir</a:t>
            </a:r>
            <a:r>
              <a:rPr lang="en-U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aplicación</a:t>
            </a:r>
            <a:endParaRPr lang="en-US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pp &gt; build &gt; </a:t>
            </a:r>
            <a:r>
              <a:rPr lang="en-US" sz="1800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outputs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&gt;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apk</a:t>
            </a: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&gt; debug &gt; </a:t>
            </a:r>
            <a:r>
              <a:rPr lang="en-US" sz="1800" b="1" dirty="0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app-</a:t>
            </a:r>
            <a:r>
              <a:rPr lang="en-US" sz="1800" b="1" dirty="0" err="1">
                <a:solidFill>
                  <a:srgbClr val="FFFF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debug.apk</a:t>
            </a:r>
            <a:endParaRPr lang="es-CO" sz="1200" b="1" dirty="0">
              <a:solidFill>
                <a:srgbClr val="FFFF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s-CO" sz="12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8A16A2-DFDF-4F76-B92D-A6BCFEA6BF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37860" y="1775002"/>
            <a:ext cx="5400040" cy="272478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D3B339-9736-D4F0-056A-38C035E4AA86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7E6E07-7660-28D2-4497-CF35F5DC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3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5C32B43-D21E-4265-8F14-06CFE37203C0}"/>
              </a:ext>
            </a:extLst>
          </p:cNvPr>
          <p:cNvSpPr txBox="1"/>
          <p:nvPr/>
        </p:nvSpPr>
        <p:spPr>
          <a:xfrm>
            <a:off x="1701924" y="2492896"/>
            <a:ext cx="9058890" cy="1117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MX" sz="7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¡Muchas gracias!</a:t>
            </a:r>
            <a:endParaRPr lang="es-CO" sz="72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35E505-2A18-F28E-483A-3DCC01F27AA5}"/>
              </a:ext>
            </a:extLst>
          </p:cNvPr>
          <p:cNvSpPr txBox="1"/>
          <p:nvPr/>
        </p:nvSpPr>
        <p:spPr>
          <a:xfrm>
            <a:off x="8520370" y="25771"/>
            <a:ext cx="2986715" cy="649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Simulaciones 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Instrumentación Virtual + </a:t>
            </a:r>
            <a:r>
              <a:rPr lang="es-MX" sz="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IoT</a:t>
            </a:r>
            <a:r>
              <a:rPr lang="es-MX" sz="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IA</a:t>
            </a:r>
            <a:endParaRPr lang="es-MX" sz="8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Ingeniería Física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Universidad Nacional de Colombia Sede Medellín</a:t>
            </a:r>
          </a:p>
          <a:p>
            <a:pPr algn="r">
              <a:lnSpc>
                <a:spcPct val="90000"/>
              </a:lnSpc>
            </a:pPr>
            <a:r>
              <a:rPr lang="es-MX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2026-01</a:t>
            </a:r>
            <a:endParaRPr lang="es-CO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BF105A-5B5B-7DA1-5341-8222EFB7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475" y="0"/>
            <a:ext cx="702736" cy="10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8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 16 x 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500_TF02804846_TF02804846" id="{65FD6923-A55A-4D8A-AB6E-792F5126A260}" vid="{862C69AA-365A-4DD1-97BC-168A1699736E}"/>
    </a:ext>
  </a:extLst>
</a:theme>
</file>

<file path=ppt/theme/theme2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tf02804846_win32</Template>
  <TotalTime>2067</TotalTime>
  <Words>2242</Words>
  <Application>Microsoft Office PowerPoint</Application>
  <PresentationFormat>Personalizado</PresentationFormat>
  <Paragraphs>411</Paragraphs>
  <Slides>27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7" baseType="lpstr">
      <vt:lpstr>Arial</vt:lpstr>
      <vt:lpstr>Calibri</vt:lpstr>
      <vt:lpstr>Cambria Math</vt:lpstr>
      <vt:lpstr>Comic Sans MS</vt:lpstr>
      <vt:lpstr>Consolas</vt:lpstr>
      <vt:lpstr>Corbel</vt:lpstr>
      <vt:lpstr>Courier New</vt:lpstr>
      <vt:lpstr>Symbol</vt:lpstr>
      <vt:lpstr>Wingdings</vt:lpstr>
      <vt:lpstr>Pizarra 16 x 9</vt:lpstr>
      <vt:lpstr>Simulaciones Instrumetación Virtual + IoT + IA Por: Diego Luis Aristizábal Ramírez</vt:lpstr>
      <vt:lpstr>Programa</vt:lpstr>
      <vt:lpstr>Evaluación</vt:lpstr>
      <vt:lpstr>Reunión # 0</vt:lpstr>
      <vt:lpstr>Reunión # 1</vt:lpstr>
      <vt:lpstr>Comunicaciones móviles e inalámbricas</vt:lpstr>
      <vt:lpstr>Introducción</vt:lpstr>
      <vt:lpstr>El IoT</vt:lpstr>
      <vt:lpstr>El ESP32</vt:lpstr>
      <vt:lpstr>El IDE: Android Studio</vt:lpstr>
      <vt:lpstr>MiPrimeraApp</vt:lpstr>
      <vt:lpstr>Una app en ANDROID</vt:lpstr>
      <vt:lpstr>Clases y Objetos</vt:lpstr>
      <vt:lpstr>Clases y Objetos</vt:lpstr>
      <vt:lpstr>Clases y Objetos</vt:lpstr>
      <vt:lpstr>Dibujando con ANDROID</vt:lpstr>
      <vt:lpstr>Dibujando con ANDROID</vt:lpstr>
      <vt:lpstr>Una app en ANDROID</vt:lpstr>
      <vt:lpstr>Dibujando con ANDROID</vt:lpstr>
      <vt:lpstr>Dibujando con ANDROID</vt:lpstr>
      <vt:lpstr>Dibujando con ANDROID</vt:lpstr>
      <vt:lpstr>Los COMENTARIOS en ANDROID</vt:lpstr>
      <vt:lpstr>Los COMENTARIOS en ANDROID</vt:lpstr>
      <vt:lpstr>Los COMENTARIOS en ANDROID</vt:lpstr>
      <vt:lpstr>El archivo manifiesto (CONTRATO)</vt:lpstr>
      <vt:lpstr>Distribuyendo la app (sin firma)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sobre Procesamiento Digital de Imágenes</dc:title>
  <dc:creator>Usuario</dc:creator>
  <cp:lastModifiedBy>Diego Luis Aristizábal Ramírez</cp:lastModifiedBy>
  <cp:revision>705</cp:revision>
  <dcterms:created xsi:type="dcterms:W3CDTF">2021-01-07T22:47:59Z</dcterms:created>
  <dcterms:modified xsi:type="dcterms:W3CDTF">2026-01-04T04:15:00Z</dcterms:modified>
</cp:coreProperties>
</file>